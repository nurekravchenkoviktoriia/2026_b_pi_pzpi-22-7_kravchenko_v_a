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Economica" panose="020B0604020202020204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hOEF+rqBMTUudJx1IQggraPBmq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6AA457-A1EB-47D2-8AC8-B3882567E476}">
  <a:tblStyle styleId="{326AA457-A1EB-47D2-8AC8-B3882567E47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3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1" name="Google Shape;11;p2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2" name="Google Shape;12;p2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2" name="Google Shape;22;p24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3" name="Google Shape;23;p24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3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ctrTitle"/>
          </p:nvPr>
        </p:nvSpPr>
        <p:spPr>
          <a:xfrm>
            <a:off x="2797950" y="1010654"/>
            <a:ext cx="48699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2400">
                <a:latin typeface="Times New Roman"/>
                <a:ea typeface="Times New Roman"/>
                <a:cs typeface="Times New Roman"/>
                <a:sym typeface="Times New Roman"/>
              </a:rPr>
              <a:t>Кваліфікаційна робота бакалавра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"/>
          <p:cNvSpPr txBox="1">
            <a:spLocks noGrp="1"/>
          </p:cNvSpPr>
          <p:nvPr>
            <p:ph type="subTitle" idx="1"/>
          </p:nvPr>
        </p:nvSpPr>
        <p:spPr>
          <a:xfrm>
            <a:off x="446238" y="3182151"/>
            <a:ext cx="6062700" cy="12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"/>
              <a:buNone/>
            </a:pPr>
            <a:r>
              <a:rPr lang="uk-UA" sz="1800">
                <a:latin typeface="Times New Roman"/>
                <a:ea typeface="Times New Roman"/>
                <a:cs typeface="Times New Roman"/>
                <a:sym typeface="Times New Roman"/>
              </a:rPr>
              <a:t>Здобувач: Кравченко Вікторія Андріївна, ПЗПІ-22-7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"/>
              <a:buNone/>
            </a:pPr>
            <a:r>
              <a:rPr lang="uk-UA" sz="1800">
                <a:latin typeface="Times New Roman"/>
                <a:ea typeface="Times New Roman"/>
                <a:cs typeface="Times New Roman"/>
                <a:sym typeface="Times New Roman"/>
              </a:rPr>
              <a:t>Керівник: доц. кафедри ПІ Лещинська Ірина Олександрівна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 txBox="1">
            <a:spLocks noGrp="1"/>
          </p:cNvSpPr>
          <p:nvPr>
            <p:ph type="ctrTitle"/>
          </p:nvPr>
        </p:nvSpPr>
        <p:spPr>
          <a:xfrm>
            <a:off x="1559674" y="1971548"/>
            <a:ext cx="5894700" cy="10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000">
                <a:latin typeface="Times New Roman"/>
                <a:ea typeface="Times New Roman"/>
                <a:cs typeface="Times New Roman"/>
                <a:sym typeface="Times New Roman"/>
              </a:rPr>
              <a:t>Програмна система для контролю споживання води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Мета роботи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2"/>
          <p:cNvSpPr txBox="1">
            <a:spLocks noGrp="1"/>
          </p:cNvSpPr>
          <p:nvPr>
            <p:ph type="body" idx="1"/>
          </p:nvPr>
        </p:nvSpPr>
        <p:spPr>
          <a:xfrm>
            <a:off x="311700" y="934518"/>
            <a:ext cx="8520600" cy="342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938" lvl="0" indent="4413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Метою кваліфікаційної роботи є 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проєктування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та розробка програмної системи «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AquaTrack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» для автоматизації обліку, моніторингу, аналізу, сповіщення та  контролю водоспоживання у приміщенні. 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Основні етапи виконання роботи: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100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Аналіз предметної галузі. 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100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Формування вимог до програмної системи.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100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Проєктування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програмної системи: UML‑діаграми, структура даних, логіка взаємодії.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100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Розробка серверної частини: REST API, база даних, обробка даних, взаємодія з 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IoT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100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Реалізація клієнтських додатків: 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десктопний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застосунок, веб‑клієнт.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100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Інтеграція аналітичних модулів: прогнозування, виявлення аномалій, ліміти.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100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Тестування програмної системи: інтеграційне, функціональне, навантажувальне.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Аналіз існуючих рішень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982162" y="900330"/>
            <a:ext cx="7080130" cy="337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3" descr="Изображение выглядит как текст, снимок экрана, одежда, Человеческое лицо&#10;&#10;Контент, сгенерированный ИИ, может содержать ошибки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557" y="900330"/>
            <a:ext cx="4528512" cy="242053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/>
          <p:nvPr/>
        </p:nvSpPr>
        <p:spPr>
          <a:xfrm>
            <a:off x="613342" y="3367837"/>
            <a:ext cx="28392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 – Система моніторингу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споживання води «Flume Water»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0106" y="900330"/>
            <a:ext cx="4420960" cy="24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5179864" y="3367837"/>
            <a:ext cx="316144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2 – Система «Flo Smart Water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and Shutoff»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Аналіз існуючих рішень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982162" y="900330"/>
            <a:ext cx="7080130" cy="337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44611" y="3683092"/>
            <a:ext cx="34195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3 – Платформа «Home Assistant»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5505513" y="3698140"/>
            <a:ext cx="24240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4 – Система «Phyn»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662" y="986971"/>
            <a:ext cx="4370161" cy="2656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14823" y="1088571"/>
            <a:ext cx="4405443" cy="2414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Порівняння існуючих рішень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982162" y="900330"/>
            <a:ext cx="7080130" cy="337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8" name="Google Shape;108;p5"/>
          <p:cNvGraphicFramePr/>
          <p:nvPr/>
        </p:nvGraphicFramePr>
        <p:xfrm>
          <a:off x="700050" y="950237"/>
          <a:ext cx="7845000" cy="3810050"/>
        </p:xfrm>
        <a:graphic>
          <a:graphicData uri="http://schemas.openxmlformats.org/drawingml/2006/table">
            <a:tbl>
              <a:tblPr firstRow="1" bandRow="1">
                <a:noFill/>
                <a:tableStyleId>{326AA457-A1EB-47D2-8AC8-B3882567E476}</a:tableStyleId>
              </a:tblPr>
              <a:tblGrid>
                <a:gridCol w="121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Назва системи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Основні функції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Автоматичне перекриття води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Метод встановлення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Ціна/Підписка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uk-UA" sz="11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Flume Water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Детальний моніторинг витрат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Система сповіщень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Лімітування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Відсутнє (тільки моніторинг та сповіщення)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Самостійно (накладний датчик на лічильник без розрізання труб)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$269 за пристрій; доступна платна підписка Flume Insight ($49.99/рік)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uk-UA" sz="11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 by Moen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Автоматичне перекриття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Детекція мікровитоків</a:t>
                      </a:r>
                      <a:endParaRPr sz="11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Віддалене керування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Трекінг по приладах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Захист від замерзання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Наявне (автоматичне та дистанційне)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Професійно (врізання в трубу)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Від $675.99 до $1079.64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uk-UA" sz="11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Phyn (Plus)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ШІ-моніторинг з однієї точки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Автоматичне відключення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Сповіщення про замерзання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Наявне (у моделі Phyn Plus)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Професійно (Phyn Plus) або самостійно (Phyn Smart Water Assistant)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Від $299.99 до $579.99  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uk-UA" sz="11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 Assistant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Глобальна інтеграція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Потужні автоматизації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Локальний контроль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Гнучкі дашборди</a:t>
                      </a:r>
                      <a:endParaRPr sz="11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arenR"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Енергоменеджмент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Можливо (через підключені керовані приводи кранів або реле)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Самостійно (потребує технічних навичок, налаштування ПЗ)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1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Безкоштовне ПЗ; самостійні витрати</a:t>
                      </a:r>
                      <a:endParaRPr sz="11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Google Shape;109;p5"/>
          <p:cNvSpPr txBox="1"/>
          <p:nvPr/>
        </p:nvSpPr>
        <p:spPr>
          <a:xfrm>
            <a:off x="790090" y="636804"/>
            <a:ext cx="59105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Таблиця 1 – Порівняльна таблиця існуючих рішень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>
                <a:latin typeface="Times New Roman"/>
                <a:ea typeface="Times New Roman"/>
                <a:cs typeface="Times New Roman"/>
                <a:sym typeface="Times New Roman"/>
              </a:rPr>
              <a:t>Постановка задачі та опис системи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311700" y="517162"/>
            <a:ext cx="8563375" cy="4212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4926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Метою є р</a:t>
            </a:r>
            <a:r>
              <a:rPr lang="uk-UA" sz="1800">
                <a:latin typeface="Times New Roman"/>
                <a:ea typeface="Times New Roman"/>
                <a:cs typeface="Times New Roman"/>
                <a:sym typeface="Times New Roman"/>
              </a:rPr>
              <a:t>озробка програмної системи для контролю споживання води «AquaTrack», яка має такі функціональні можливості: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49263" lvl="0" indent="-449263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−"/>
            </a:pPr>
            <a:r>
              <a:rPr lang="uk-UA" sz="1800">
                <a:latin typeface="Times New Roman"/>
                <a:ea typeface="Times New Roman"/>
                <a:cs typeface="Times New Roman"/>
                <a:sym typeface="Times New Roman"/>
              </a:rPr>
              <a:t>моніторингу споживання води у приміщеннях;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49263" lvl="0" indent="-44926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−"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о</a:t>
            </a:r>
            <a:r>
              <a:rPr lang="uk-UA" sz="1800">
                <a:latin typeface="Times New Roman"/>
                <a:ea typeface="Times New Roman"/>
                <a:cs typeface="Times New Roman"/>
                <a:sym typeface="Times New Roman"/>
              </a:rPr>
              <a:t>бробка даних з лічильників води;</a:t>
            </a:r>
            <a:endParaRPr/>
          </a:p>
          <a:p>
            <a:pPr marL="449263" lvl="0" indent="-44926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−"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п</a:t>
            </a:r>
            <a:r>
              <a:rPr lang="uk-UA" sz="1800">
                <a:latin typeface="Times New Roman"/>
                <a:ea typeface="Times New Roman"/>
                <a:cs typeface="Times New Roman"/>
                <a:sym typeface="Times New Roman"/>
              </a:rPr>
              <a:t>рогнозування витрат води;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9263" lvl="0" indent="-44926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−"/>
            </a:pPr>
            <a:r>
              <a:rPr lang="uk-UA">
                <a:latin typeface="Times New Roman"/>
                <a:ea typeface="Times New Roman"/>
                <a:cs typeface="Times New Roman"/>
                <a:sym typeface="Times New Roman"/>
              </a:rPr>
              <a:t>с</a:t>
            </a:r>
            <a:r>
              <a:rPr lang="uk-UA" sz="1800">
                <a:latin typeface="Times New Roman"/>
                <a:ea typeface="Times New Roman"/>
                <a:cs typeface="Times New Roman"/>
                <a:sym typeface="Times New Roman"/>
              </a:rPr>
              <a:t>творення лімітів на споживання та виявлення їх перевищення;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49263" lvl="0" indent="-44926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−"/>
            </a:pPr>
            <a:r>
              <a:rPr lang="uk-UA" sz="1800">
                <a:latin typeface="Times New Roman"/>
                <a:ea typeface="Times New Roman"/>
                <a:cs typeface="Times New Roman"/>
                <a:sym typeface="Times New Roman"/>
              </a:rPr>
              <a:t>формування звітів і візуалізації статистичних даних;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49263" lvl="0" indent="-44926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−"/>
            </a:pPr>
            <a:r>
              <a:rPr lang="uk-UA" sz="1800">
                <a:latin typeface="Times New Roman"/>
                <a:ea typeface="Times New Roman"/>
                <a:cs typeface="Times New Roman"/>
                <a:sym typeface="Times New Roman"/>
              </a:rPr>
              <a:t>здійснення адміністрування системи;</a:t>
            </a:r>
            <a:endParaRPr/>
          </a:p>
          <a:p>
            <a:pPr marL="449263" lvl="0" indent="-44926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−"/>
            </a:pPr>
            <a:r>
              <a:rPr lang="uk-UA" sz="18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забезпечення доступу до системи з різних клієнтських платформ.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Опис програмного забезпечення, вибір технологій</a:t>
            </a:r>
            <a:endParaRPr sz="3200"/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7" descr="C# | Викии Вики | Fando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001" y="2135858"/>
            <a:ext cx="1132183" cy="1132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 descr="Microsoft Visual Studio — Википедия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43106" y="2135858"/>
            <a:ext cx="1110675" cy="111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 descr="Visual Studio Code — Википедия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10703" y="2135860"/>
            <a:ext cx="1110673" cy="111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 descr="Microsoft sql server: преимущества и недостатки - Новости Южно Сахалинска -  astv.ru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71228" y="2207016"/>
            <a:ext cx="1368464" cy="111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7" descr="React — Википедия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78298" y="2086207"/>
            <a:ext cx="1336008" cy="1231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 descr="Wokwi (@wokwi) • Faceboo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96614" y="2086207"/>
            <a:ext cx="1347613" cy="134761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285288" y="1039175"/>
            <a:ext cx="186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Серверна логіка та десктопний застосунок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1659988" y="3678475"/>
            <a:ext cx="154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Розробка та налагодження системи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2763838" y="1270325"/>
            <a:ext cx="186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Розробка вебклієнта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3963763" y="3714075"/>
            <a:ext cx="186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Інтерфейс вебзастосунку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5430763" y="1358325"/>
            <a:ext cx="186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Зберігання даних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6735613" y="3714075"/>
            <a:ext cx="186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Симуляція IoT-пристрою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7" name="Google Shape;137;p7"/>
          <p:cNvCxnSpPr>
            <a:stCxn id="133" idx="2"/>
          </p:cNvCxnSpPr>
          <p:nvPr/>
        </p:nvCxnSpPr>
        <p:spPr>
          <a:xfrm flipH="1">
            <a:off x="3696238" y="1639625"/>
            <a:ext cx="2400" cy="3636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" name="Google Shape;138;p7"/>
          <p:cNvCxnSpPr>
            <a:stCxn id="131" idx="2"/>
            <a:endCxn id="125" idx="0"/>
          </p:cNvCxnSpPr>
          <p:nvPr/>
        </p:nvCxnSpPr>
        <p:spPr>
          <a:xfrm>
            <a:off x="1220088" y="1778075"/>
            <a:ext cx="0" cy="3579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" name="Google Shape;139;p7"/>
          <p:cNvCxnSpPr>
            <a:stCxn id="132" idx="0"/>
          </p:cNvCxnSpPr>
          <p:nvPr/>
        </p:nvCxnSpPr>
        <p:spPr>
          <a:xfrm rot="10800000">
            <a:off x="2432338" y="3407575"/>
            <a:ext cx="1200" cy="2709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" name="Google Shape;140;p7"/>
          <p:cNvCxnSpPr>
            <a:stCxn id="134" idx="0"/>
          </p:cNvCxnSpPr>
          <p:nvPr/>
        </p:nvCxnSpPr>
        <p:spPr>
          <a:xfrm rot="10800000">
            <a:off x="4898563" y="3460275"/>
            <a:ext cx="0" cy="253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141;p7"/>
          <p:cNvCxnSpPr>
            <a:stCxn id="135" idx="2"/>
          </p:cNvCxnSpPr>
          <p:nvPr/>
        </p:nvCxnSpPr>
        <p:spPr>
          <a:xfrm>
            <a:off x="6365563" y="1727625"/>
            <a:ext cx="7800" cy="3108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142;p7"/>
          <p:cNvCxnSpPr>
            <a:stCxn id="136" idx="0"/>
            <a:endCxn id="130" idx="2"/>
          </p:cNvCxnSpPr>
          <p:nvPr/>
        </p:nvCxnSpPr>
        <p:spPr>
          <a:xfrm rot="10800000">
            <a:off x="7670413" y="3433875"/>
            <a:ext cx="0" cy="2802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268931" y="229374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dirty="0"/>
              <a:t>UML діаграма прецедентів програмної системи</a:t>
            </a:r>
            <a:endParaRPr sz="3200" dirty="0"/>
          </a:p>
        </p:txBody>
      </p:sp>
      <p:pic>
        <p:nvPicPr>
          <p:cNvPr id="148" name="Google Shape;14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2076765" y="4633473"/>
            <a:ext cx="4990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5 – UML діаграма прецедентів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8" title="UML AquaTrack.png"/>
          <p:cNvPicPr preferRelativeResize="0"/>
          <p:nvPr/>
        </p:nvPicPr>
        <p:blipFill rotWithShape="1">
          <a:blip r:embed="rId4">
            <a:alphaModFix/>
          </a:blip>
          <a:srcRect l="3209" r="3516" b="4553"/>
          <a:stretch/>
        </p:blipFill>
        <p:spPr>
          <a:xfrm>
            <a:off x="2288138" y="990075"/>
            <a:ext cx="4482187" cy="364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268925" y="11333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Архітектура програмної системи</a:t>
            </a:r>
            <a:endParaRPr sz="3200"/>
          </a:p>
        </p:txBody>
      </p:sp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2069552" y="4633473"/>
            <a:ext cx="50048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6 – UML діаграма розгортання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8343" y="892629"/>
            <a:ext cx="3447143" cy="3664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>
            <a:spLocks noGrp="1"/>
          </p:cNvSpPr>
          <p:nvPr>
            <p:ph type="title"/>
          </p:nvPr>
        </p:nvSpPr>
        <p:spPr>
          <a:xfrm>
            <a:off x="268925" y="27694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Структура бази даних</a:t>
            </a:r>
            <a:endParaRPr sz="3200"/>
          </a:p>
        </p:txBody>
      </p:sp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 txBox="1"/>
          <p:nvPr/>
        </p:nvSpPr>
        <p:spPr>
          <a:xfrm>
            <a:off x="8517707" y="4491950"/>
            <a:ext cx="5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2396564" y="3823917"/>
            <a:ext cx="43508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7 – ER діаграма даних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894" y="1410369"/>
            <a:ext cx="7640210" cy="2445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11700" y="24779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dirty="0" err="1"/>
              <a:t>Вебінтерфейси</a:t>
            </a:r>
            <a:r>
              <a:rPr lang="uk-UA" sz="3200" dirty="0"/>
              <a:t> моніторингу споживання води</a:t>
            </a:r>
            <a:endParaRPr sz="3200" dirty="0"/>
          </a:p>
        </p:txBody>
      </p:sp>
      <p:pic>
        <p:nvPicPr>
          <p:cNvPr id="175" name="Google Shape;17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 txBox="1"/>
          <p:nvPr/>
        </p:nvSpPr>
        <p:spPr>
          <a:xfrm>
            <a:off x="8635854" y="4637375"/>
            <a:ext cx="42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984517" y="3990168"/>
            <a:ext cx="30652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8 – Сторінка моніторингу у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вебзастосунку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4780483" y="3988415"/>
            <a:ext cx="360547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9 – Деталізована статистика на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сторінці моніторингу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25" y="1374212"/>
            <a:ext cx="4556310" cy="239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6815" y="1301303"/>
            <a:ext cx="4604783" cy="2540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>
            <a:spLocks noGrp="1"/>
          </p:cNvSpPr>
          <p:nvPr>
            <p:ph type="title"/>
          </p:nvPr>
        </p:nvSpPr>
        <p:spPr>
          <a:xfrm>
            <a:off x="311700" y="8384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Звіт моніторингу споживання води</a:t>
            </a:r>
            <a:endParaRPr sz="3200"/>
          </a:p>
        </p:txBody>
      </p:sp>
      <p:pic>
        <p:nvPicPr>
          <p:cNvPr id="186" name="Google Shape;18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2"/>
          <p:cNvSpPr txBox="1"/>
          <p:nvPr/>
        </p:nvSpPr>
        <p:spPr>
          <a:xfrm>
            <a:off x="8626779" y="4555575"/>
            <a:ext cx="435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992033" y="4406874"/>
            <a:ext cx="48461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10 – Звіт використання води за обраний період часу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4458" y="849188"/>
            <a:ext cx="4641348" cy="351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>
            <a:spLocks noGrp="1"/>
          </p:cNvSpPr>
          <p:nvPr>
            <p:ph type="title"/>
          </p:nvPr>
        </p:nvSpPr>
        <p:spPr>
          <a:xfrm>
            <a:off x="311700" y="8384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Інтерфейс прогнозування споживання води</a:t>
            </a:r>
            <a:endParaRPr sz="3200"/>
          </a:p>
        </p:txBody>
      </p:sp>
      <p:pic>
        <p:nvPicPr>
          <p:cNvPr id="195" name="Google Shape;19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8672228" y="4591925"/>
            <a:ext cx="39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1651168" y="4169031"/>
            <a:ext cx="5841663" cy="3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11 – Сторінка прогнозування витрат води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788" y="926887"/>
            <a:ext cx="5752424" cy="323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>
            <a:spLocks noGrp="1"/>
          </p:cNvSpPr>
          <p:nvPr>
            <p:ph type="title"/>
          </p:nvPr>
        </p:nvSpPr>
        <p:spPr>
          <a:xfrm>
            <a:off x="311700" y="8384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Інтерфейс прогнозування споживання води</a:t>
            </a:r>
            <a:endParaRPr sz="3200"/>
          </a:p>
        </p:txBody>
      </p:sp>
      <p:pic>
        <p:nvPicPr>
          <p:cNvPr id="204" name="Google Shape;20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4"/>
          <p:cNvSpPr txBox="1"/>
          <p:nvPr/>
        </p:nvSpPr>
        <p:spPr>
          <a:xfrm>
            <a:off x="8654028" y="4601000"/>
            <a:ext cx="40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1246410" y="4169031"/>
            <a:ext cx="6651180" cy="83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12 – Графічна аналітика прогнозування споживання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675" y="991350"/>
            <a:ext cx="5651082" cy="31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title"/>
          </p:nvPr>
        </p:nvSpPr>
        <p:spPr>
          <a:xfrm>
            <a:off x="311700" y="8384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Інтерфейс прогнозування споживання води</a:t>
            </a:r>
            <a:endParaRPr sz="3200"/>
          </a:p>
        </p:txBody>
      </p:sp>
      <p:pic>
        <p:nvPicPr>
          <p:cNvPr id="213" name="Google Shape;21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5"/>
          <p:cNvSpPr txBox="1"/>
          <p:nvPr/>
        </p:nvSpPr>
        <p:spPr>
          <a:xfrm>
            <a:off x="8563156" y="4549975"/>
            <a:ext cx="49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1442776" y="4169031"/>
            <a:ext cx="6258445" cy="3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13 – Розширені дані на сторінці прогнозування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7750" y="962400"/>
            <a:ext cx="5448499" cy="315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>
            <a:spLocks noGrp="1"/>
          </p:cNvSpPr>
          <p:nvPr>
            <p:ph type="title"/>
          </p:nvPr>
        </p:nvSpPr>
        <p:spPr>
          <a:xfrm>
            <a:off x="311698" y="29429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Інтерфейси управління лімітами на споживання</a:t>
            </a:r>
            <a:endParaRPr sz="3200"/>
          </a:p>
        </p:txBody>
      </p:sp>
      <p:pic>
        <p:nvPicPr>
          <p:cNvPr id="222" name="Google Shape;22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6"/>
          <p:cNvSpPr txBox="1"/>
          <p:nvPr/>
        </p:nvSpPr>
        <p:spPr>
          <a:xfrm>
            <a:off x="8576399" y="4606350"/>
            <a:ext cx="486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311698" y="3853314"/>
            <a:ext cx="5317481" cy="3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14 – Сторінка управління лімітами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6"/>
          <p:cNvPicPr preferRelativeResize="0"/>
          <p:nvPr/>
        </p:nvPicPr>
        <p:blipFill rotWithShape="1">
          <a:blip r:embed="rId4">
            <a:alphaModFix/>
          </a:blip>
          <a:srcRect l="26732" t="11553" r="28105" b="9151"/>
          <a:stretch/>
        </p:blipFill>
        <p:spPr>
          <a:xfrm>
            <a:off x="6129975" y="1285425"/>
            <a:ext cx="2569024" cy="24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6"/>
          <p:cNvSpPr txBox="1"/>
          <p:nvPr/>
        </p:nvSpPr>
        <p:spPr>
          <a:xfrm>
            <a:off x="5684966" y="3760619"/>
            <a:ext cx="345903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15 – Вікно створення нового ліміту на споживання (виконано самостійно)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450" y="1397847"/>
            <a:ext cx="5445971" cy="2330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Інтерфейс адміністратора</a:t>
            </a:r>
            <a:endParaRPr sz="3200"/>
          </a:p>
        </p:txBody>
      </p:sp>
      <p:pic>
        <p:nvPicPr>
          <p:cNvPr id="233" name="Google Shape;23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7"/>
          <p:cNvSpPr txBox="1"/>
          <p:nvPr/>
        </p:nvSpPr>
        <p:spPr>
          <a:xfrm>
            <a:off x="8635854" y="4637375"/>
            <a:ext cx="42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631371" y="4001221"/>
            <a:ext cx="40712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16 – Сторінка адміністратора (керування користувачами)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5053596" y="3990168"/>
            <a:ext cx="345903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17 – Сторінка адміністратора (керування пристроями)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545" y="1131968"/>
            <a:ext cx="4317370" cy="283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7509" y="1215093"/>
            <a:ext cx="4651197" cy="2747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Інтерфейси десктоп клієнта</a:t>
            </a:r>
            <a:endParaRPr sz="3200"/>
          </a:p>
        </p:txBody>
      </p:sp>
      <p:pic>
        <p:nvPicPr>
          <p:cNvPr id="244" name="Google Shape;2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8"/>
          <p:cNvSpPr txBox="1"/>
          <p:nvPr/>
        </p:nvSpPr>
        <p:spPr>
          <a:xfrm>
            <a:off x="8607931" y="4619200"/>
            <a:ext cx="45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631371" y="4001221"/>
            <a:ext cx="40712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18 – Сторінка моніторингу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5053596" y="3990168"/>
            <a:ext cx="345903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19 – Сторінка лімітів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068" y="929111"/>
            <a:ext cx="3926168" cy="2963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8732" y="1029105"/>
            <a:ext cx="3759200" cy="2807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Інтерфейси десктоп клієнта</a:t>
            </a:r>
            <a:endParaRPr sz="3200"/>
          </a:p>
        </p:txBody>
      </p:sp>
      <p:pic>
        <p:nvPicPr>
          <p:cNvPr id="255" name="Google Shape;25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8644954" y="4619200"/>
            <a:ext cx="41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385989" y="3934695"/>
            <a:ext cx="40712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20 – Сторінка аналітики ШІ та виявлення аномалій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5053596" y="3990168"/>
            <a:ext cx="345903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21 – Сторінка адміністратора (виконано самостійно)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989" y="947195"/>
            <a:ext cx="3946525" cy="2964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706" y="1035214"/>
            <a:ext cx="4480560" cy="290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/>
              <a:t>Підсумки </a:t>
            </a:r>
            <a:endParaRPr sz="3200"/>
          </a:p>
        </p:txBody>
      </p:sp>
      <p:pic>
        <p:nvPicPr>
          <p:cNvPr id="266" name="Google Shape;26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8644954" y="4606350"/>
            <a:ext cx="41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0"/>
          <p:cNvSpPr txBox="1">
            <a:spLocks noGrp="1"/>
          </p:cNvSpPr>
          <p:nvPr>
            <p:ph type="body" idx="1"/>
          </p:nvPr>
        </p:nvSpPr>
        <p:spPr>
          <a:xfrm>
            <a:off x="311700" y="950953"/>
            <a:ext cx="8675400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За результатами аналізу предметної галузі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обґрунтовано потребу в автоматизованій системі моніторингу водоспоживання та визначено ключові проблеми традиційного обліку.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На основі сформованих вимог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 визначено функціональні, нефункціональні та системні вимоги, що стали основою для побудови архітектури «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AquaTrack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».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У межах етапу </a:t>
            </a:r>
            <a:r>
              <a:rPr lang="uk-UA" sz="1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проєктування</a:t>
            </a: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 програмної системи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 побудовано UML‑діаграми, структуру бази даних та логіку взаємодії компонентів, архітектуру 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кросплатформної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програмної системи, що включає: </a:t>
            </a: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веб‑інтерфейс (React.js), настільний застосунок (C# </a:t>
            </a:r>
            <a:r>
              <a:rPr lang="uk-UA" sz="1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WinForms</a:t>
            </a: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), серверну частину (.NET)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та </a:t>
            </a: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імітаційну модель </a:t>
            </a:r>
            <a:r>
              <a:rPr lang="uk-UA" sz="1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IoT</a:t>
            </a: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‑пристрою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(C++, MQTT, 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Wokwi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Під час розробки серверної частини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 реалізовано REST API, модулі обробки даних, взаємодію з SQL Server та підтримку 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IoT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‑комунікації через MQTT‑протокол.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У процесі створення клієнтських додатків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 розроблено веб‑клієнт і 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десктопний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застосунок, що забезпечують повний доступ до функцій системи та підтримують українську локалізацію.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На етапі інтеграції аналітичних модулів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 впроваджено інтелектуальний модуль на ML.NET, який аналізує 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патерни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водоспоживання, прогнозує витрати та автоматично фіксує аномалії й </a:t>
            </a:r>
            <a:r>
              <a:rPr lang="uk-UA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мікроструктурні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витоки.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uk-UA" sz="1400" b="1" dirty="0">
                <a:latin typeface="Times New Roman"/>
                <a:ea typeface="Times New Roman"/>
                <a:cs typeface="Times New Roman"/>
                <a:sym typeface="Times New Roman"/>
              </a:rPr>
              <a:t>У ході тестування програмної системи</a:t>
            </a:r>
            <a:r>
              <a:rPr lang="uk-UA" sz="1400" dirty="0">
                <a:latin typeface="Times New Roman"/>
                <a:ea typeface="Times New Roman"/>
                <a:cs typeface="Times New Roman"/>
                <a:sym typeface="Times New Roman"/>
              </a:rPr>
              <a:t>  проведено інтеграційне, функціональне та навантажувальне тестування, що підтвердило коректність роботи всіх компонентів та стабільність програмної системи.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Office PowerPoint</Application>
  <PresentationFormat>Экран (16:9)</PresentationFormat>
  <Paragraphs>136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Open Sans</vt:lpstr>
      <vt:lpstr>Arial</vt:lpstr>
      <vt:lpstr>Times New Roman</vt:lpstr>
      <vt:lpstr>Noto Sans Symbols</vt:lpstr>
      <vt:lpstr>Economica</vt:lpstr>
      <vt:lpstr>Шаблон презентації кваліфікаційної роботи магістрів</vt:lpstr>
      <vt:lpstr>Кваліфікаційна робота бакалавра</vt:lpstr>
      <vt:lpstr>Мета роботи</vt:lpstr>
      <vt:lpstr>Аналіз існуючих рішень</vt:lpstr>
      <vt:lpstr>Аналіз існуючих рішень</vt:lpstr>
      <vt:lpstr>Порівняння існуючих рішень</vt:lpstr>
      <vt:lpstr>Постановка задачі та опис системи</vt:lpstr>
      <vt:lpstr>Опис програмного забезпечення, вибір технологій</vt:lpstr>
      <vt:lpstr>UML діаграма прецедентів програмної системи</vt:lpstr>
      <vt:lpstr>Архітектура програмної системи</vt:lpstr>
      <vt:lpstr>Структура бази даних</vt:lpstr>
      <vt:lpstr>Вебінтерфейси моніторингу споживання води</vt:lpstr>
      <vt:lpstr>Звіт моніторингу споживання води</vt:lpstr>
      <vt:lpstr>Інтерфейс прогнозування споживання води</vt:lpstr>
      <vt:lpstr>Інтерфейс прогнозування споживання води</vt:lpstr>
      <vt:lpstr>Інтерфейс прогнозування споживання води</vt:lpstr>
      <vt:lpstr>Інтерфейси управління лімітами на споживання</vt:lpstr>
      <vt:lpstr>Інтерфейс адміністратора</vt:lpstr>
      <vt:lpstr>Інтерфейси десктоп клієнта</vt:lpstr>
      <vt:lpstr>Інтерфейси десктоп клієнта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Кваліфікаційна робота бакалавра</dc:title>
  <dc:creator>... ...</dc:creator>
  <cp:lastModifiedBy>... ...</cp:lastModifiedBy>
  <cp:revision>1</cp:revision>
  <dcterms:created xsi:type="dcterms:W3CDTF">2025-06-14T17:42:01Z</dcterms:created>
  <dcterms:modified xsi:type="dcterms:W3CDTF">2026-07-15T10:19:20Z</dcterms:modified>
</cp:coreProperties>
</file>